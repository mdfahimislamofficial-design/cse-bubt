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4"/>
  </p:notesMasterIdLst>
  <p:handoutMasterIdLst>
    <p:handoutMasterId r:id="rId15"/>
  </p:handoutMasterIdLst>
  <p:sldIdLst>
    <p:sldId id="258" r:id="rId2"/>
    <p:sldId id="268" r:id="rId3"/>
    <p:sldId id="259" r:id="rId4"/>
    <p:sldId id="260" r:id="rId5"/>
    <p:sldId id="269"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66"/>
    <a:srgbClr val="D1DE2E"/>
    <a:srgbClr val="385D8A"/>
    <a:srgbClr val="D3DC5E"/>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21" autoAdjust="0"/>
    <p:restoredTop sz="94662" autoAdjust="0"/>
  </p:normalViewPr>
  <p:slideViewPr>
    <p:cSldViewPr>
      <p:cViewPr>
        <p:scale>
          <a:sx n="75" d="100"/>
          <a:sy n="75" d="100"/>
        </p:scale>
        <p:origin x="-1248" y="-7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E74D1C-679B-4B7C-AB90-4E0FCA5A68FC}" type="datetimeFigureOut">
              <a:rPr lang="en-US" smtClean="0"/>
              <a:t>12/7/2024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E36D369-8135-465B-9602-66A80A2B4415}" type="slidenum">
              <a:rPr lang="en-US" smtClean="0"/>
              <a:t>‹#›</a:t>
            </a:fld>
            <a:endParaRPr lang="en-US"/>
          </a:p>
        </p:txBody>
      </p:sp>
    </p:spTree>
    <p:extLst>
      <p:ext uri="{BB962C8B-B14F-4D97-AF65-F5344CB8AC3E}">
        <p14:creationId xmlns:p14="http://schemas.microsoft.com/office/powerpoint/2010/main" val="21491038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2E767C5-B043-4668-9268-017A10923FB1}" type="datetimeFigureOut">
              <a:rPr lang="en-US" smtClean="0"/>
              <a:t>12/7/2024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87C185-D9E3-4DE0-ADC8-1F7430F51ADB}" type="slidenum">
              <a:rPr lang="en-US" smtClean="0"/>
              <a:t>‹#›</a:t>
            </a:fld>
            <a:endParaRPr lang="en-US"/>
          </a:p>
        </p:txBody>
      </p:sp>
    </p:spTree>
    <p:extLst>
      <p:ext uri="{BB962C8B-B14F-4D97-AF65-F5344CB8AC3E}">
        <p14:creationId xmlns:p14="http://schemas.microsoft.com/office/powerpoint/2010/main" val="2794069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7833BBA-332B-42BA-B4D1-005296C726A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4007952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833BBA-332B-42BA-B4D1-005296C726A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2239522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833BBA-332B-42BA-B4D1-005296C726A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3780156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7833BBA-332B-42BA-B4D1-005296C726A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3365000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7833BBA-332B-42BA-B4D1-005296C726A6}" type="datetimeFigureOut">
              <a:rPr lang="en-US" smtClean="0"/>
              <a:t>12/7/2024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4129004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7833BBA-332B-42BA-B4D1-005296C726A6}" type="datetimeFigureOut">
              <a:rPr lang="en-US" smtClean="0"/>
              <a:t>12/7/2024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6438095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833BBA-332B-42BA-B4D1-005296C726A6}" type="datetimeFigureOut">
              <a:rPr lang="en-US" smtClean="0"/>
              <a:t>12/7/2024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2476897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833BBA-332B-42BA-B4D1-005296C726A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4180569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833BBA-332B-42BA-B4D1-005296C726A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872363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833BBA-332B-42BA-B4D1-005296C726A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266695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833BBA-332B-42BA-B4D1-005296C726A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3D1A4B-C573-4991-B5FC-E4F504ECA9E1}" type="slidenum">
              <a:rPr lang="en-US" smtClean="0"/>
              <a:t>‹#›</a:t>
            </a:fld>
            <a:endParaRPr lang="en-US"/>
          </a:p>
        </p:txBody>
      </p:sp>
    </p:spTree>
    <p:extLst>
      <p:ext uri="{BB962C8B-B14F-4D97-AF65-F5344CB8AC3E}">
        <p14:creationId xmlns:p14="http://schemas.microsoft.com/office/powerpoint/2010/main" val="4155863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833BBA-332B-42BA-B4D1-005296C726A6}" type="datetimeFigureOut">
              <a:rPr lang="en-US" smtClean="0"/>
              <a:t>12/7/2024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3D1A4B-C573-4991-B5FC-E4F504ECA9E1}" type="slidenum">
              <a:rPr lang="en-US" smtClean="0"/>
              <a:t>‹#›</a:t>
            </a:fld>
            <a:endParaRPr lang="en-US"/>
          </a:p>
        </p:txBody>
      </p:sp>
    </p:spTree>
    <p:extLst>
      <p:ext uri="{BB962C8B-B14F-4D97-AF65-F5344CB8AC3E}">
        <p14:creationId xmlns:p14="http://schemas.microsoft.com/office/powerpoint/2010/main" val="3482790147"/>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8.jpg"/><Relationship Id="rId5" Type="http://schemas.openxmlformats.org/officeDocument/2006/relationships/image" Target="../media/image7.jpe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Rectangle 1"/>
          <p:cNvSpPr/>
          <p:nvPr/>
        </p:nvSpPr>
        <p:spPr>
          <a:xfrm>
            <a:off x="9829800" y="4620491"/>
            <a:ext cx="2362200" cy="2209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4953000" y="4419600"/>
            <a:ext cx="1295400" cy="2286000"/>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4005943" y="3410857"/>
            <a:ext cx="2017487" cy="3454400"/>
          </a:xfrm>
          <a:custGeom>
            <a:avLst/>
            <a:gdLst>
              <a:gd name="connsiteX0" fmla="*/ 0 w 2017486"/>
              <a:gd name="connsiteY0" fmla="*/ 3454400 h 3454400"/>
              <a:gd name="connsiteX1" fmla="*/ 174171 w 2017486"/>
              <a:gd name="connsiteY1" fmla="*/ 2917372 h 3454400"/>
              <a:gd name="connsiteX2" fmla="*/ 391886 w 2017486"/>
              <a:gd name="connsiteY2" fmla="*/ 2438400 h 3454400"/>
              <a:gd name="connsiteX3" fmla="*/ 711200 w 2017486"/>
              <a:gd name="connsiteY3" fmla="*/ 1799772 h 3454400"/>
              <a:gd name="connsiteX4" fmla="*/ 957943 w 2017486"/>
              <a:gd name="connsiteY4" fmla="*/ 1349829 h 3454400"/>
              <a:gd name="connsiteX5" fmla="*/ 1320800 w 2017486"/>
              <a:gd name="connsiteY5" fmla="*/ 769257 h 3454400"/>
              <a:gd name="connsiteX6" fmla="*/ 1741714 w 2017486"/>
              <a:gd name="connsiteY6" fmla="*/ 232229 h 3454400"/>
              <a:gd name="connsiteX7" fmla="*/ 2017486 w 2017486"/>
              <a:gd name="connsiteY7" fmla="*/ 0 h 345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17486" h="3454400">
                <a:moveTo>
                  <a:pt x="0" y="3454400"/>
                </a:moveTo>
                <a:cubicBezTo>
                  <a:pt x="54428" y="3270552"/>
                  <a:pt x="108857" y="3086705"/>
                  <a:pt x="174171" y="2917372"/>
                </a:cubicBezTo>
                <a:cubicBezTo>
                  <a:pt x="239485" y="2748039"/>
                  <a:pt x="302381" y="2624667"/>
                  <a:pt x="391886" y="2438400"/>
                </a:cubicBezTo>
                <a:cubicBezTo>
                  <a:pt x="481391" y="2252133"/>
                  <a:pt x="616857" y="1981200"/>
                  <a:pt x="711200" y="1799772"/>
                </a:cubicBezTo>
                <a:cubicBezTo>
                  <a:pt x="805543" y="1618344"/>
                  <a:pt x="856343" y="1521581"/>
                  <a:pt x="957943" y="1349829"/>
                </a:cubicBezTo>
                <a:cubicBezTo>
                  <a:pt x="1059543" y="1178077"/>
                  <a:pt x="1190171" y="955524"/>
                  <a:pt x="1320800" y="769257"/>
                </a:cubicBezTo>
                <a:cubicBezTo>
                  <a:pt x="1451429" y="582990"/>
                  <a:pt x="1625600" y="360439"/>
                  <a:pt x="1741714" y="232229"/>
                </a:cubicBezTo>
                <a:cubicBezTo>
                  <a:pt x="1857828" y="104019"/>
                  <a:pt x="1973943" y="41124"/>
                  <a:pt x="2017486" y="0"/>
                </a:cubicBezTo>
              </a:path>
            </a:pathLst>
          </a:custGeom>
          <a:no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Rectangle 8"/>
          <p:cNvSpPr/>
          <p:nvPr/>
        </p:nvSpPr>
        <p:spPr>
          <a:xfrm>
            <a:off x="4005945" y="4419600"/>
            <a:ext cx="2471057" cy="1828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Decision 11"/>
          <p:cNvSpPr/>
          <p:nvPr/>
        </p:nvSpPr>
        <p:spPr>
          <a:xfrm>
            <a:off x="4686300" y="5138057"/>
            <a:ext cx="45719" cy="45719"/>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1143000" y="2362200"/>
            <a:ext cx="6858000" cy="1938992"/>
          </a:xfrm>
          <a:prstGeom prst="rect">
            <a:avLst/>
          </a:prstGeom>
        </p:spPr>
        <p:txBody>
          <a:bodyPr wrap="square">
            <a:spAutoFit/>
          </a:bodyPr>
          <a:lstStyle/>
          <a:p>
            <a:pPr lvl="0" algn="ctr"/>
            <a:r>
              <a:rPr lang="en-US" sz="6000" b="1" i="1" dirty="0" smtClean="0">
                <a:solidFill>
                  <a:prstClr val="white"/>
                </a:solidFill>
                <a:effectLst>
                  <a:outerShdw blurRad="38100" dist="38100" dir="2700000" algn="tl">
                    <a:srgbClr val="000000">
                      <a:alpha val="43137"/>
                    </a:srgbClr>
                  </a:outerShdw>
                </a:effectLst>
                <a:latin typeface="Elephant" pitchFamily="18" charset="0"/>
              </a:rPr>
              <a:t>FIRE  ALARM SYSTEM</a:t>
            </a:r>
            <a:endParaRPr lang="en-US" sz="6000" b="1" i="1" dirty="0">
              <a:solidFill>
                <a:prstClr val="white"/>
              </a:solidFill>
              <a:effectLst>
                <a:outerShdw blurRad="38100" dist="38100" dir="2700000" algn="tl">
                  <a:srgbClr val="000000">
                    <a:alpha val="43137"/>
                  </a:srgbClr>
                </a:outerShdw>
              </a:effectLst>
              <a:latin typeface="Elephant" pitchFamily="18" charset="0"/>
            </a:endParaRPr>
          </a:p>
        </p:txBody>
      </p:sp>
      <p:sp>
        <p:nvSpPr>
          <p:cNvPr id="17" name="TextBox 16"/>
          <p:cNvSpPr txBox="1"/>
          <p:nvPr/>
        </p:nvSpPr>
        <p:spPr>
          <a:xfrm>
            <a:off x="-38100" y="609600"/>
            <a:ext cx="3886200" cy="400110"/>
          </a:xfrm>
          <a:prstGeom prst="rect">
            <a:avLst/>
          </a:prstGeom>
          <a:noFill/>
        </p:spPr>
        <p:txBody>
          <a:bodyPr wrap="square" rtlCol="0">
            <a:spAutoFit/>
          </a:bodyPr>
          <a:lstStyle/>
          <a:p>
            <a:pPr algn="ctr"/>
            <a:r>
              <a:rPr lang="en-US" sz="2000" b="1" dirty="0" smtClean="0"/>
              <a:t>A Presentation on</a:t>
            </a:r>
            <a:endParaRPr lang="en-US" sz="2000" b="1" dirty="0"/>
          </a:p>
        </p:txBody>
      </p:sp>
    </p:spTree>
    <p:extLst>
      <p:ext uri="{BB962C8B-B14F-4D97-AF65-F5344CB8AC3E}">
        <p14:creationId xmlns:p14="http://schemas.microsoft.com/office/powerpoint/2010/main" val="1788277065"/>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TextBox 1"/>
          <p:cNvSpPr txBox="1"/>
          <p:nvPr/>
        </p:nvSpPr>
        <p:spPr>
          <a:xfrm>
            <a:off x="2362200" y="330657"/>
            <a:ext cx="4495800" cy="584775"/>
          </a:xfrm>
          <a:prstGeom prst="rect">
            <a:avLst/>
          </a:prstGeom>
          <a:noFill/>
        </p:spPr>
        <p:txBody>
          <a:bodyPr wrap="square" rtlCol="0">
            <a:spAutoFit/>
          </a:bodyPr>
          <a:lstStyle/>
          <a:p>
            <a:pPr algn="ctr"/>
            <a:r>
              <a:rPr lang="en-US" sz="3200" b="1" u="sng" spc="600" dirty="0" smtClean="0">
                <a:solidFill>
                  <a:schemeClr val="bg1"/>
                </a:solidFill>
                <a:latin typeface="Baskerville Old Face" pitchFamily="18" charset="0"/>
              </a:rPr>
              <a:t>Presented By</a:t>
            </a:r>
            <a:endParaRPr lang="en-US" sz="3200" b="1" u="sng" spc="600" dirty="0">
              <a:solidFill>
                <a:schemeClr val="bg1"/>
              </a:solidFill>
              <a:latin typeface="Baskerville Old Face" pitchFamily="18" charset="0"/>
            </a:endParaRPr>
          </a:p>
        </p:txBody>
      </p:sp>
      <p:sp>
        <p:nvSpPr>
          <p:cNvPr id="3" name="TextBox 2"/>
          <p:cNvSpPr txBox="1"/>
          <p:nvPr/>
        </p:nvSpPr>
        <p:spPr>
          <a:xfrm>
            <a:off x="546100" y="1132006"/>
            <a:ext cx="7848600" cy="2585323"/>
          </a:xfrm>
          <a:prstGeom prst="rect">
            <a:avLst/>
          </a:prstGeom>
          <a:noFill/>
        </p:spPr>
        <p:txBody>
          <a:bodyPr wrap="square" rtlCol="0">
            <a:spAutoFit/>
          </a:bodyPr>
          <a:lstStyle/>
          <a:p>
            <a:r>
              <a:rPr lang="en-US" b="1" dirty="0" err="1" smtClean="0">
                <a:solidFill>
                  <a:schemeClr val="bg1"/>
                </a:solidFill>
              </a:rPr>
              <a:t>Ashfaq</a:t>
            </a:r>
            <a:r>
              <a:rPr lang="en-US" b="1" dirty="0" smtClean="0">
                <a:solidFill>
                  <a:schemeClr val="bg1"/>
                </a:solidFill>
              </a:rPr>
              <a:t> </a:t>
            </a:r>
            <a:r>
              <a:rPr lang="en-US" b="1" dirty="0" err="1" smtClean="0">
                <a:solidFill>
                  <a:schemeClr val="bg1"/>
                </a:solidFill>
              </a:rPr>
              <a:t>Hossan</a:t>
            </a:r>
            <a:r>
              <a:rPr lang="en-US" b="1" dirty="0" smtClean="0">
                <a:solidFill>
                  <a:schemeClr val="bg1"/>
                </a:solidFill>
              </a:rPr>
              <a:t> </a:t>
            </a:r>
            <a:r>
              <a:rPr lang="en-US" b="1" dirty="0" err="1" smtClean="0">
                <a:solidFill>
                  <a:schemeClr val="bg1"/>
                </a:solidFill>
              </a:rPr>
              <a:t>Anik</a:t>
            </a:r>
            <a:r>
              <a:rPr lang="en-US" dirty="0" smtClean="0">
                <a:solidFill>
                  <a:schemeClr val="bg1"/>
                </a:solidFill>
              </a:rPr>
              <a:t>                                                                                     </a:t>
            </a:r>
            <a:r>
              <a:rPr lang="en-US" b="1" dirty="0" smtClean="0">
                <a:solidFill>
                  <a:schemeClr val="bg1"/>
                </a:solidFill>
              </a:rPr>
              <a:t>20245103044</a:t>
            </a:r>
          </a:p>
          <a:p>
            <a:endParaRPr lang="en-US" dirty="0">
              <a:solidFill>
                <a:schemeClr val="bg1"/>
              </a:solidFill>
            </a:endParaRPr>
          </a:p>
          <a:p>
            <a:r>
              <a:rPr lang="en-US" b="1" dirty="0" err="1" smtClean="0">
                <a:solidFill>
                  <a:schemeClr val="bg1"/>
                </a:solidFill>
              </a:rPr>
              <a:t>Mijanur</a:t>
            </a:r>
            <a:r>
              <a:rPr lang="en-US" b="1" dirty="0" smtClean="0">
                <a:solidFill>
                  <a:schemeClr val="bg1"/>
                </a:solidFill>
              </a:rPr>
              <a:t> </a:t>
            </a:r>
            <a:r>
              <a:rPr lang="en-US" b="1" dirty="0" err="1" smtClean="0">
                <a:solidFill>
                  <a:schemeClr val="bg1"/>
                </a:solidFill>
              </a:rPr>
              <a:t>Rahman</a:t>
            </a:r>
            <a:r>
              <a:rPr lang="en-US" b="1" dirty="0" smtClean="0">
                <a:solidFill>
                  <a:schemeClr val="bg1"/>
                </a:solidFill>
              </a:rPr>
              <a:t>  </a:t>
            </a:r>
            <a:r>
              <a:rPr lang="en-US" dirty="0" smtClean="0">
                <a:solidFill>
                  <a:schemeClr val="bg1"/>
                </a:solidFill>
              </a:rPr>
              <a:t>                                                                                         </a:t>
            </a:r>
            <a:r>
              <a:rPr lang="en-US" b="1" dirty="0" smtClean="0">
                <a:solidFill>
                  <a:schemeClr val="bg1"/>
                </a:solidFill>
              </a:rPr>
              <a:t>20245103053</a:t>
            </a:r>
            <a:endParaRPr lang="en-US" b="1" dirty="0" smtClean="0">
              <a:solidFill>
                <a:schemeClr val="bg1"/>
              </a:solidFill>
            </a:endParaRPr>
          </a:p>
          <a:p>
            <a:endParaRPr lang="en-US" dirty="0">
              <a:solidFill>
                <a:schemeClr val="bg1"/>
              </a:solidFill>
            </a:endParaRPr>
          </a:p>
          <a:p>
            <a:r>
              <a:rPr lang="en-US" b="1" dirty="0" err="1" smtClean="0">
                <a:solidFill>
                  <a:schemeClr val="bg1"/>
                </a:solidFill>
              </a:rPr>
              <a:t>Pulok</a:t>
            </a:r>
            <a:r>
              <a:rPr lang="en-US" b="1" dirty="0" smtClean="0">
                <a:solidFill>
                  <a:schemeClr val="bg1"/>
                </a:solidFill>
              </a:rPr>
              <a:t> Das  </a:t>
            </a:r>
            <a:r>
              <a:rPr lang="en-US" dirty="0" smtClean="0">
                <a:solidFill>
                  <a:schemeClr val="bg1"/>
                </a:solidFill>
              </a:rPr>
              <a:t>                                                                                                    </a:t>
            </a:r>
            <a:r>
              <a:rPr lang="en-US" dirty="0" smtClean="0">
                <a:solidFill>
                  <a:schemeClr val="bg1"/>
                </a:solidFill>
              </a:rPr>
              <a:t> </a:t>
            </a:r>
            <a:r>
              <a:rPr lang="en-US" b="1" dirty="0" smtClean="0">
                <a:solidFill>
                  <a:schemeClr val="bg1"/>
                </a:solidFill>
              </a:rPr>
              <a:t>20245103062</a:t>
            </a:r>
            <a:endParaRPr lang="en-US" b="1" dirty="0" smtClean="0">
              <a:solidFill>
                <a:schemeClr val="bg1"/>
              </a:solidFill>
            </a:endParaRPr>
          </a:p>
          <a:p>
            <a:endParaRPr lang="en-US" dirty="0">
              <a:solidFill>
                <a:schemeClr val="bg1"/>
              </a:solidFill>
            </a:endParaRPr>
          </a:p>
          <a:p>
            <a:r>
              <a:rPr lang="en-US" b="1" dirty="0" err="1" smtClean="0">
                <a:solidFill>
                  <a:schemeClr val="bg1"/>
                </a:solidFill>
              </a:rPr>
              <a:t>Shantay</a:t>
            </a:r>
            <a:r>
              <a:rPr lang="en-US" b="1" dirty="0" smtClean="0">
                <a:solidFill>
                  <a:schemeClr val="bg1"/>
                </a:solidFill>
              </a:rPr>
              <a:t> </a:t>
            </a:r>
            <a:r>
              <a:rPr lang="en-US" b="1" dirty="0" smtClean="0">
                <a:solidFill>
                  <a:schemeClr val="bg1"/>
                </a:solidFill>
              </a:rPr>
              <a:t>Chandra Paul </a:t>
            </a:r>
            <a:r>
              <a:rPr lang="en-US" dirty="0" smtClean="0">
                <a:solidFill>
                  <a:schemeClr val="bg1"/>
                </a:solidFill>
              </a:rPr>
              <a:t>                                                                                 </a:t>
            </a:r>
            <a:r>
              <a:rPr lang="en-US" b="1" dirty="0" smtClean="0">
                <a:solidFill>
                  <a:schemeClr val="bg1"/>
                </a:solidFill>
              </a:rPr>
              <a:t>20245103067</a:t>
            </a:r>
            <a:endParaRPr lang="en-US" b="1" dirty="0" smtClean="0">
              <a:solidFill>
                <a:schemeClr val="bg1"/>
              </a:solidFill>
            </a:endParaRPr>
          </a:p>
          <a:p>
            <a:endParaRPr lang="en-US" dirty="0">
              <a:solidFill>
                <a:schemeClr val="bg1"/>
              </a:solidFill>
            </a:endParaRPr>
          </a:p>
          <a:p>
            <a:r>
              <a:rPr lang="en-US" b="1" dirty="0" err="1" smtClean="0">
                <a:solidFill>
                  <a:schemeClr val="bg1"/>
                </a:solidFill>
              </a:rPr>
              <a:t>Gobinda</a:t>
            </a:r>
            <a:r>
              <a:rPr lang="en-US" b="1" dirty="0" smtClean="0">
                <a:solidFill>
                  <a:schemeClr val="bg1"/>
                </a:solidFill>
              </a:rPr>
              <a:t> </a:t>
            </a:r>
            <a:r>
              <a:rPr lang="en-US" b="1" dirty="0" err="1" smtClean="0">
                <a:solidFill>
                  <a:schemeClr val="bg1"/>
                </a:solidFill>
              </a:rPr>
              <a:t>Hazra</a:t>
            </a:r>
            <a:r>
              <a:rPr lang="en-US" b="1" dirty="0" smtClean="0">
                <a:solidFill>
                  <a:schemeClr val="bg1"/>
                </a:solidFill>
              </a:rPr>
              <a:t>     </a:t>
            </a:r>
            <a:r>
              <a:rPr lang="en-US" dirty="0" smtClean="0">
                <a:solidFill>
                  <a:schemeClr val="bg1"/>
                </a:solidFill>
              </a:rPr>
              <a:t>                                                                                       </a:t>
            </a:r>
            <a:r>
              <a:rPr lang="en-US" dirty="0" smtClean="0">
                <a:solidFill>
                  <a:schemeClr val="bg1"/>
                </a:solidFill>
              </a:rPr>
              <a:t>   </a:t>
            </a:r>
            <a:r>
              <a:rPr lang="en-US" b="1" dirty="0" smtClean="0">
                <a:solidFill>
                  <a:schemeClr val="bg1"/>
                </a:solidFill>
              </a:rPr>
              <a:t>20234103203</a:t>
            </a:r>
            <a:endParaRPr lang="en-US" b="1" dirty="0">
              <a:solidFill>
                <a:schemeClr val="bg1"/>
              </a:solidFill>
            </a:endParaRPr>
          </a:p>
        </p:txBody>
      </p:sp>
      <p:sp>
        <p:nvSpPr>
          <p:cNvPr id="4" name="Right Arrow 3"/>
          <p:cNvSpPr/>
          <p:nvPr/>
        </p:nvSpPr>
        <p:spPr>
          <a:xfrm>
            <a:off x="3340100" y="1079479"/>
            <a:ext cx="2895600" cy="42493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ID</a:t>
            </a:r>
            <a:endParaRPr lang="en-US" dirty="0">
              <a:solidFill>
                <a:schemeClr val="bg1"/>
              </a:solidFill>
            </a:endParaRPr>
          </a:p>
        </p:txBody>
      </p:sp>
      <p:sp>
        <p:nvSpPr>
          <p:cNvPr id="5" name="Right Arrow 4"/>
          <p:cNvSpPr/>
          <p:nvPr/>
        </p:nvSpPr>
        <p:spPr>
          <a:xfrm>
            <a:off x="3340100" y="1619408"/>
            <a:ext cx="2895600" cy="42493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ID</a:t>
            </a:r>
            <a:endParaRPr lang="en-US" dirty="0">
              <a:solidFill>
                <a:schemeClr val="bg1"/>
              </a:solidFill>
            </a:endParaRPr>
          </a:p>
        </p:txBody>
      </p:sp>
      <p:sp>
        <p:nvSpPr>
          <p:cNvPr id="6" name="Right Arrow 5"/>
          <p:cNvSpPr/>
          <p:nvPr/>
        </p:nvSpPr>
        <p:spPr>
          <a:xfrm>
            <a:off x="3340100" y="2212200"/>
            <a:ext cx="2895600" cy="42493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ID</a:t>
            </a:r>
            <a:endParaRPr lang="en-US" dirty="0">
              <a:solidFill>
                <a:schemeClr val="bg1"/>
              </a:solidFill>
            </a:endParaRPr>
          </a:p>
        </p:txBody>
      </p:sp>
      <p:sp>
        <p:nvSpPr>
          <p:cNvPr id="7" name="Right Arrow 6"/>
          <p:cNvSpPr/>
          <p:nvPr/>
        </p:nvSpPr>
        <p:spPr>
          <a:xfrm>
            <a:off x="3340100" y="2743200"/>
            <a:ext cx="2895600" cy="42493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ID</a:t>
            </a:r>
            <a:endParaRPr lang="en-US" dirty="0">
              <a:solidFill>
                <a:schemeClr val="bg1"/>
              </a:solidFill>
            </a:endParaRPr>
          </a:p>
        </p:txBody>
      </p:sp>
      <p:sp>
        <p:nvSpPr>
          <p:cNvPr id="8" name="Right Arrow 7"/>
          <p:cNvSpPr/>
          <p:nvPr/>
        </p:nvSpPr>
        <p:spPr>
          <a:xfrm>
            <a:off x="3340100" y="3305789"/>
            <a:ext cx="2895600" cy="424934"/>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bg1"/>
                </a:solidFill>
              </a:rPr>
              <a:t>ID</a:t>
            </a:r>
            <a:endParaRPr lang="en-US" dirty="0">
              <a:solidFill>
                <a:schemeClr val="bg1"/>
              </a:solidFill>
            </a:endParaRPr>
          </a:p>
        </p:txBody>
      </p:sp>
      <p:sp>
        <p:nvSpPr>
          <p:cNvPr id="9" name="TextBox 8"/>
          <p:cNvSpPr txBox="1"/>
          <p:nvPr/>
        </p:nvSpPr>
        <p:spPr>
          <a:xfrm>
            <a:off x="3040431" y="4495800"/>
            <a:ext cx="3324949" cy="861774"/>
          </a:xfrm>
          <a:prstGeom prst="rect">
            <a:avLst/>
          </a:prstGeom>
          <a:noFill/>
        </p:spPr>
        <p:txBody>
          <a:bodyPr wrap="none" rtlCol="0">
            <a:spAutoFit/>
          </a:bodyPr>
          <a:lstStyle/>
          <a:p>
            <a:r>
              <a:rPr lang="en-US" sz="3200" b="1" u="sng" spc="600" dirty="0">
                <a:solidFill>
                  <a:schemeClr val="bg1"/>
                </a:solidFill>
                <a:latin typeface="Baskerville Old Face" pitchFamily="18" charset="0"/>
              </a:rPr>
              <a:t>Presented </a:t>
            </a:r>
            <a:r>
              <a:rPr lang="en-US" sz="3200" b="1" u="sng" spc="600" dirty="0" smtClean="0">
                <a:solidFill>
                  <a:schemeClr val="bg1"/>
                </a:solidFill>
                <a:latin typeface="Baskerville Old Face" pitchFamily="18" charset="0"/>
              </a:rPr>
              <a:t>To</a:t>
            </a:r>
            <a:endParaRPr lang="en-US" sz="3200" b="1" u="sng" spc="600" dirty="0">
              <a:solidFill>
                <a:schemeClr val="bg1"/>
              </a:solidFill>
              <a:latin typeface="Baskerville Old Face" pitchFamily="18" charset="0"/>
            </a:endParaRPr>
          </a:p>
          <a:p>
            <a:endParaRPr lang="en-US" dirty="0"/>
          </a:p>
        </p:txBody>
      </p:sp>
      <p:sp>
        <p:nvSpPr>
          <p:cNvPr id="10" name="TextBox 9"/>
          <p:cNvSpPr txBox="1"/>
          <p:nvPr/>
        </p:nvSpPr>
        <p:spPr>
          <a:xfrm>
            <a:off x="1714500" y="5357574"/>
            <a:ext cx="5791200" cy="954107"/>
          </a:xfrm>
          <a:prstGeom prst="rect">
            <a:avLst/>
          </a:prstGeom>
          <a:noFill/>
        </p:spPr>
        <p:txBody>
          <a:bodyPr wrap="square" rtlCol="0">
            <a:spAutoFit/>
          </a:bodyPr>
          <a:lstStyle/>
          <a:p>
            <a:pPr algn="ctr"/>
            <a:r>
              <a:rPr lang="en-US" sz="2000" b="1" dirty="0" err="1" smtClean="0">
                <a:solidFill>
                  <a:schemeClr val="bg1"/>
                </a:solidFill>
              </a:rPr>
              <a:t>Sabbir</a:t>
            </a:r>
            <a:r>
              <a:rPr lang="en-US" sz="2000" b="1" dirty="0" smtClean="0">
                <a:solidFill>
                  <a:schemeClr val="bg1"/>
                </a:solidFill>
              </a:rPr>
              <a:t> </a:t>
            </a:r>
            <a:r>
              <a:rPr lang="en-US" sz="2000" b="1" dirty="0" err="1" smtClean="0">
                <a:solidFill>
                  <a:schemeClr val="bg1"/>
                </a:solidFill>
              </a:rPr>
              <a:t>Hasan</a:t>
            </a:r>
            <a:r>
              <a:rPr lang="en-US" sz="2000" b="1" dirty="0" smtClean="0">
                <a:solidFill>
                  <a:schemeClr val="bg1"/>
                </a:solidFill>
              </a:rPr>
              <a:t> </a:t>
            </a:r>
            <a:r>
              <a:rPr lang="en-US" sz="2000" b="1" dirty="0" err="1" smtClean="0">
                <a:solidFill>
                  <a:schemeClr val="bg1"/>
                </a:solidFill>
              </a:rPr>
              <a:t>Sohag</a:t>
            </a:r>
            <a:endParaRPr lang="en-US" b="1" dirty="0" smtClean="0">
              <a:solidFill>
                <a:schemeClr val="bg1"/>
              </a:solidFill>
            </a:endParaRPr>
          </a:p>
          <a:p>
            <a:pPr algn="ctr"/>
            <a:r>
              <a:rPr lang="en-US" b="1" dirty="0" smtClean="0">
                <a:solidFill>
                  <a:schemeClr val="bg1"/>
                </a:solidFill>
              </a:rPr>
              <a:t>Assistant Professor</a:t>
            </a:r>
          </a:p>
          <a:p>
            <a:pPr algn="ctr"/>
            <a:r>
              <a:rPr lang="en-US" b="1" dirty="0" smtClean="0">
                <a:solidFill>
                  <a:schemeClr val="bg1"/>
                </a:solidFill>
              </a:rPr>
              <a:t>Department of EEE</a:t>
            </a:r>
            <a:endParaRPr lang="en-US" b="1" dirty="0">
              <a:solidFill>
                <a:schemeClr val="bg1"/>
              </a:solidFill>
            </a:endParaRPr>
          </a:p>
        </p:txBody>
      </p:sp>
    </p:spTree>
    <p:extLst>
      <p:ext uri="{BB962C8B-B14F-4D97-AF65-F5344CB8AC3E}">
        <p14:creationId xmlns:p14="http://schemas.microsoft.com/office/powerpoint/2010/main" val="1599283006"/>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53000" r="-53000"/>
          </a:stretch>
        </a:blipFill>
        <a:effectLst/>
      </p:bgPr>
    </p:bg>
    <p:spTree>
      <p:nvGrpSpPr>
        <p:cNvPr id="1" name=""/>
        <p:cNvGrpSpPr/>
        <p:nvPr/>
      </p:nvGrpSpPr>
      <p:grpSpPr>
        <a:xfrm>
          <a:off x="0" y="0"/>
          <a:ext cx="0" cy="0"/>
          <a:chOff x="0" y="0"/>
          <a:chExt cx="0" cy="0"/>
        </a:xfrm>
      </p:grpSpPr>
      <p:sp>
        <p:nvSpPr>
          <p:cNvPr id="2" name="TextBox 1"/>
          <p:cNvSpPr txBox="1"/>
          <p:nvPr/>
        </p:nvSpPr>
        <p:spPr>
          <a:xfrm>
            <a:off x="1143000" y="316468"/>
            <a:ext cx="7086600" cy="523220"/>
          </a:xfrm>
          <a:prstGeom prst="rect">
            <a:avLst/>
          </a:prstGeom>
          <a:noFill/>
        </p:spPr>
        <p:txBody>
          <a:bodyPr wrap="square" rtlCol="0">
            <a:spAutoFit/>
          </a:bodyPr>
          <a:lstStyle/>
          <a:p>
            <a:pPr algn="ctr"/>
            <a:r>
              <a:rPr lang="en-US" sz="2800" b="1" u="sng" dirty="0" smtClean="0">
                <a:solidFill>
                  <a:schemeClr val="bg1"/>
                </a:solidFill>
                <a:latin typeface="Modern No. 20" pitchFamily="18" charset="0"/>
              </a:rPr>
              <a:t>Introduction</a:t>
            </a:r>
            <a:endParaRPr lang="en-US" sz="2800" b="1" u="sng" dirty="0">
              <a:solidFill>
                <a:schemeClr val="bg1"/>
              </a:solidFill>
              <a:latin typeface="Modern No. 20" pitchFamily="18" charset="0"/>
            </a:endParaRPr>
          </a:p>
        </p:txBody>
      </p:sp>
      <p:sp>
        <p:nvSpPr>
          <p:cNvPr id="3" name="TextBox 2"/>
          <p:cNvSpPr txBox="1"/>
          <p:nvPr/>
        </p:nvSpPr>
        <p:spPr>
          <a:xfrm>
            <a:off x="228600" y="1066800"/>
            <a:ext cx="8686800" cy="2862322"/>
          </a:xfrm>
          <a:prstGeom prst="rect">
            <a:avLst/>
          </a:prstGeom>
          <a:noFill/>
        </p:spPr>
        <p:txBody>
          <a:bodyPr wrap="square" rtlCol="0">
            <a:spAutoFit/>
          </a:bodyPr>
          <a:lstStyle/>
          <a:p>
            <a:r>
              <a:rPr lang="en-US" dirty="0" smtClean="0">
                <a:solidFill>
                  <a:schemeClr val="bg1"/>
                </a:solidFill>
                <a:latin typeface="Bahnschrift" pitchFamily="34" charset="0"/>
              </a:rPr>
              <a:t>A fire alarm system is an electronic setup designed to detect potential fire hazards by sensing temperature, smoke, or flames. Upon detection, it emits a loud sound to alert individuals of the danger, enabling them to take timely action and minimize risk to life and property. These systems are widely used in homes, offices, and industrial facilities to ensure safety and prevent catastrophic losses.</a:t>
            </a:r>
          </a:p>
          <a:p>
            <a:endParaRPr lang="en-US" dirty="0" smtClean="0">
              <a:solidFill>
                <a:schemeClr val="bg1"/>
              </a:solidFill>
              <a:latin typeface="Bahnschrift" pitchFamily="34" charset="0"/>
            </a:endParaRPr>
          </a:p>
          <a:p>
            <a:endParaRPr lang="en-US" dirty="0">
              <a:solidFill>
                <a:schemeClr val="bg1"/>
              </a:solidFill>
              <a:latin typeface="Bahnschrift" pitchFamily="34" charset="0"/>
            </a:endParaRPr>
          </a:p>
          <a:p>
            <a:r>
              <a:rPr lang="en-US" dirty="0" smtClean="0">
                <a:solidFill>
                  <a:schemeClr val="bg1"/>
                </a:solidFill>
                <a:latin typeface="Bahnschrift" pitchFamily="34" charset="0"/>
              </a:rPr>
              <a:t>To create a </a:t>
            </a:r>
            <a:r>
              <a:rPr lang="en-US" b="1" dirty="0" smtClean="0">
                <a:solidFill>
                  <a:schemeClr val="bg1"/>
                </a:solidFill>
                <a:latin typeface="Bahnschrift" pitchFamily="34" charset="0"/>
              </a:rPr>
              <a:t>low-cost</a:t>
            </a:r>
            <a:r>
              <a:rPr lang="en-US" dirty="0" smtClean="0">
                <a:solidFill>
                  <a:schemeClr val="bg1"/>
                </a:solidFill>
                <a:latin typeface="Bahnschrift" pitchFamily="34" charset="0"/>
              </a:rPr>
              <a:t>, </a:t>
            </a:r>
            <a:r>
              <a:rPr lang="en-US" b="1" dirty="0" smtClean="0">
                <a:solidFill>
                  <a:schemeClr val="bg1"/>
                </a:solidFill>
                <a:latin typeface="Bahnschrift" pitchFamily="34" charset="0"/>
              </a:rPr>
              <a:t>reliable</a:t>
            </a:r>
            <a:r>
              <a:rPr lang="en-US" dirty="0" smtClean="0">
                <a:solidFill>
                  <a:schemeClr val="bg1"/>
                </a:solidFill>
                <a:latin typeface="Bahnschrift" pitchFamily="34" charset="0"/>
              </a:rPr>
              <a:t>, and </a:t>
            </a:r>
            <a:r>
              <a:rPr lang="en-US" b="1" dirty="0" smtClean="0">
                <a:solidFill>
                  <a:schemeClr val="bg1"/>
                </a:solidFill>
                <a:latin typeface="Bahnschrift" pitchFamily="34" charset="0"/>
              </a:rPr>
              <a:t>easy-to-assemble</a:t>
            </a:r>
            <a:r>
              <a:rPr lang="en-US" dirty="0" smtClean="0">
                <a:solidFill>
                  <a:schemeClr val="bg1"/>
                </a:solidFill>
                <a:latin typeface="Bahnschrift" pitchFamily="34" charset="0"/>
              </a:rPr>
              <a:t> fire alarm system using basic electronic components, making it accessible for small-scale and rural applications</a:t>
            </a:r>
            <a:r>
              <a:rPr lang="en-US" dirty="0" smtClean="0">
                <a:solidFill>
                  <a:schemeClr val="bg1"/>
                </a:solidFill>
              </a:rPr>
              <a:t>.</a:t>
            </a:r>
            <a:endParaRPr lang="en-US" dirty="0">
              <a:solidFill>
                <a:schemeClr val="bg1"/>
              </a:solidFill>
            </a:endParaRPr>
          </a:p>
        </p:txBody>
      </p:sp>
    </p:spTree>
    <p:extLst>
      <p:ext uri="{BB962C8B-B14F-4D97-AF65-F5344CB8AC3E}">
        <p14:creationId xmlns:p14="http://schemas.microsoft.com/office/powerpoint/2010/main" val="26250020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000" y="1257300"/>
            <a:ext cx="1752600" cy="16002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32200" y="1295400"/>
            <a:ext cx="1854200" cy="16002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553200" y="1295400"/>
            <a:ext cx="1828800" cy="16002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5" name="TextBox 4"/>
          <p:cNvSpPr txBox="1"/>
          <p:nvPr/>
        </p:nvSpPr>
        <p:spPr>
          <a:xfrm>
            <a:off x="2806700" y="337860"/>
            <a:ext cx="3848100" cy="523220"/>
          </a:xfrm>
          <a:prstGeom prst="rect">
            <a:avLst/>
          </a:prstGeom>
          <a:noFill/>
        </p:spPr>
        <p:txBody>
          <a:bodyPr wrap="square" rtlCol="0">
            <a:spAutoFit/>
          </a:bodyPr>
          <a:lstStyle/>
          <a:p>
            <a:pPr algn="ctr"/>
            <a:r>
              <a:rPr lang="en-US" sz="2800" b="1" i="1" u="sng" dirty="0" smtClean="0">
                <a:latin typeface="Modern No. 20" pitchFamily="18" charset="0"/>
              </a:rPr>
              <a:t>Components</a:t>
            </a:r>
            <a:endParaRPr lang="en-US" sz="2800" b="1" i="1" u="sng" dirty="0">
              <a:latin typeface="Modern No. 20" pitchFamily="18" charset="0"/>
            </a:endParaRPr>
          </a:p>
        </p:txBody>
      </p:sp>
      <p:pic>
        <p:nvPicPr>
          <p:cNvPr id="6" name="Picture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33600" y="4419600"/>
            <a:ext cx="1828800" cy="15240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13400" y="4419600"/>
            <a:ext cx="1879600" cy="1460500"/>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sp>
        <p:nvSpPr>
          <p:cNvPr id="8" name="TextBox 7"/>
          <p:cNvSpPr txBox="1"/>
          <p:nvPr/>
        </p:nvSpPr>
        <p:spPr>
          <a:xfrm>
            <a:off x="1016000" y="3091934"/>
            <a:ext cx="1651000" cy="369332"/>
          </a:xfrm>
          <a:prstGeom prst="rect">
            <a:avLst/>
          </a:prstGeom>
          <a:noFill/>
        </p:spPr>
        <p:txBody>
          <a:bodyPr wrap="square" rtlCol="0">
            <a:spAutoFit/>
          </a:bodyPr>
          <a:lstStyle/>
          <a:p>
            <a:pPr algn="ctr"/>
            <a:r>
              <a:rPr lang="en-US" b="1" dirty="0" smtClean="0"/>
              <a:t>9V Battery</a:t>
            </a:r>
            <a:endParaRPr lang="en-US" b="1" dirty="0"/>
          </a:p>
        </p:txBody>
      </p:sp>
      <p:sp>
        <p:nvSpPr>
          <p:cNvPr id="9" name="TextBox 8"/>
          <p:cNvSpPr txBox="1"/>
          <p:nvPr/>
        </p:nvSpPr>
        <p:spPr>
          <a:xfrm>
            <a:off x="3632200" y="3091934"/>
            <a:ext cx="1854200" cy="646331"/>
          </a:xfrm>
          <a:prstGeom prst="rect">
            <a:avLst/>
          </a:prstGeom>
          <a:noFill/>
        </p:spPr>
        <p:txBody>
          <a:bodyPr wrap="square" rtlCol="0">
            <a:spAutoFit/>
          </a:bodyPr>
          <a:lstStyle/>
          <a:p>
            <a:pPr algn="ctr"/>
            <a:r>
              <a:rPr lang="en-US" b="1" dirty="0"/>
              <a:t>10k NTC Thermistor</a:t>
            </a:r>
          </a:p>
        </p:txBody>
      </p:sp>
      <p:sp>
        <p:nvSpPr>
          <p:cNvPr id="10" name="TextBox 9"/>
          <p:cNvSpPr txBox="1"/>
          <p:nvPr/>
        </p:nvSpPr>
        <p:spPr>
          <a:xfrm>
            <a:off x="6553200" y="3091934"/>
            <a:ext cx="1981200" cy="369332"/>
          </a:xfrm>
          <a:prstGeom prst="rect">
            <a:avLst/>
          </a:prstGeom>
          <a:noFill/>
        </p:spPr>
        <p:txBody>
          <a:bodyPr wrap="square" rtlCol="0">
            <a:spAutoFit/>
          </a:bodyPr>
          <a:lstStyle/>
          <a:p>
            <a:pPr algn="ctr"/>
            <a:r>
              <a:rPr lang="en-US" b="1" dirty="0"/>
              <a:t>BC 547 Transistor</a:t>
            </a:r>
          </a:p>
        </p:txBody>
      </p:sp>
      <p:sp>
        <p:nvSpPr>
          <p:cNvPr id="11" name="TextBox 10"/>
          <p:cNvSpPr txBox="1"/>
          <p:nvPr/>
        </p:nvSpPr>
        <p:spPr>
          <a:xfrm>
            <a:off x="2133600" y="6183868"/>
            <a:ext cx="1981200" cy="369332"/>
          </a:xfrm>
          <a:prstGeom prst="rect">
            <a:avLst/>
          </a:prstGeom>
          <a:noFill/>
        </p:spPr>
        <p:txBody>
          <a:bodyPr wrap="square" rtlCol="0">
            <a:spAutoFit/>
          </a:bodyPr>
          <a:lstStyle/>
          <a:p>
            <a:pPr algn="ctr"/>
            <a:r>
              <a:rPr lang="en-US" b="1" dirty="0"/>
              <a:t>Buzzer</a:t>
            </a:r>
          </a:p>
        </p:txBody>
      </p:sp>
      <p:sp>
        <p:nvSpPr>
          <p:cNvPr id="12" name="TextBox 11"/>
          <p:cNvSpPr txBox="1"/>
          <p:nvPr/>
        </p:nvSpPr>
        <p:spPr>
          <a:xfrm>
            <a:off x="5613400" y="6183868"/>
            <a:ext cx="2082800" cy="369332"/>
          </a:xfrm>
          <a:prstGeom prst="rect">
            <a:avLst/>
          </a:prstGeom>
          <a:noFill/>
        </p:spPr>
        <p:txBody>
          <a:bodyPr wrap="square" rtlCol="0">
            <a:spAutoFit/>
          </a:bodyPr>
          <a:lstStyle/>
          <a:p>
            <a:pPr algn="ctr"/>
            <a:r>
              <a:rPr lang="en-US" b="1" dirty="0"/>
              <a:t>1k Resistor</a:t>
            </a:r>
          </a:p>
        </p:txBody>
      </p:sp>
    </p:spTree>
    <p:extLst>
      <p:ext uri="{BB962C8B-B14F-4D97-AF65-F5344CB8AC3E}">
        <p14:creationId xmlns:p14="http://schemas.microsoft.com/office/powerpoint/2010/main" val="29592003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667000" y="152400"/>
            <a:ext cx="3810000" cy="646331"/>
          </a:xfrm>
          <a:prstGeom prst="rect">
            <a:avLst/>
          </a:prstGeom>
          <a:noFill/>
        </p:spPr>
        <p:txBody>
          <a:bodyPr wrap="square" rtlCol="0">
            <a:spAutoFit/>
          </a:bodyPr>
          <a:lstStyle/>
          <a:p>
            <a:pPr algn="ctr"/>
            <a:r>
              <a:rPr lang="en-US" sz="3600" b="1" u="sng" dirty="0" smtClean="0"/>
              <a:t>Diagram</a:t>
            </a:r>
            <a:endParaRPr lang="en-US" sz="3600" b="1" u="sng"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33800" y="1066800"/>
            <a:ext cx="1752600" cy="1600200"/>
          </a:xfrm>
          <a:prstGeom prst="rect">
            <a:avLst/>
          </a:prstGeom>
          <a:ln>
            <a:noFill/>
          </a:ln>
          <a:effectLst>
            <a:outerShdw blurRad="292100" dist="139700" dir="2700000" algn="tl" rotWithShape="0">
              <a:srgbClr val="333333">
                <a:alpha val="65000"/>
              </a:srgbClr>
            </a:outerShdw>
          </a:effectLst>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2493665"/>
            <a:ext cx="1752600" cy="2222500"/>
          </a:xfrm>
          <a:prstGeom prst="rect">
            <a:avLst/>
          </a:prstGeom>
          <a:ln>
            <a:noFill/>
          </a:ln>
          <a:effectLst>
            <a:outerShdw blurRad="292100" dist="139700" dir="2700000" algn="tl" rotWithShape="0">
              <a:srgbClr val="333333">
                <a:alpha val="65000"/>
              </a:srgbClr>
            </a:outerShdw>
          </a:effectLst>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0" y="2209800"/>
            <a:ext cx="1755775" cy="1642765"/>
          </a:xfrm>
          <a:prstGeom prst="rect">
            <a:avLst/>
          </a:prstGeom>
          <a:ln>
            <a:noFill/>
          </a:ln>
          <a:effectLst>
            <a:outerShdw blurRad="292100" dist="139700" dir="2700000" algn="tl" rotWithShape="0">
              <a:srgbClr val="333333">
                <a:alpha val="65000"/>
              </a:srgbClr>
            </a:outerShdw>
          </a:effectLst>
        </p:spPr>
      </p:pic>
      <p:pic>
        <p:nvPicPr>
          <p:cNvPr id="18" name="Picture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33800" y="5105400"/>
            <a:ext cx="1828800" cy="1524000"/>
          </a:xfrm>
          <a:prstGeom prst="rect">
            <a:avLst/>
          </a:prstGeom>
          <a:ln>
            <a:noFill/>
          </a:ln>
          <a:effectLst>
            <a:outerShdw blurRad="292100" dist="139700" dir="2700000" algn="tl" rotWithShape="0">
              <a:srgbClr val="333333">
                <a:alpha val="65000"/>
              </a:srgbClr>
            </a:outerShdw>
          </a:effectLst>
        </p:spPr>
      </p:pic>
      <p:pic>
        <p:nvPicPr>
          <p:cNvPr id="19" name="Picture 1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38600" y="3155950"/>
            <a:ext cx="1879600" cy="1460500"/>
          </a:xfrm>
          <a:prstGeom prst="rect">
            <a:avLst/>
          </a:prstGeom>
          <a:ln>
            <a:noFill/>
          </a:ln>
          <a:effectLst>
            <a:outerShdw blurRad="292100" dist="139700" dir="2700000" algn="tl" rotWithShape="0">
              <a:srgbClr val="333333">
                <a:alpha val="65000"/>
              </a:srgbClr>
            </a:outerShdw>
          </a:effectLst>
        </p:spPr>
      </p:pic>
      <p:cxnSp>
        <p:nvCxnSpPr>
          <p:cNvPr id="21" name="Elbow Connector 20"/>
          <p:cNvCxnSpPr/>
          <p:nvPr/>
        </p:nvCxnSpPr>
        <p:spPr>
          <a:xfrm rot="10800000" flipV="1">
            <a:off x="2057400" y="2493663"/>
            <a:ext cx="2057400" cy="662285"/>
          </a:xfrm>
          <a:prstGeom prst="bentConnector3">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Elbow Connector 23"/>
          <p:cNvCxnSpPr/>
          <p:nvPr/>
        </p:nvCxnSpPr>
        <p:spPr>
          <a:xfrm rot="16200000" flipH="1">
            <a:off x="1806573" y="3406774"/>
            <a:ext cx="2330452" cy="1828803"/>
          </a:xfrm>
          <a:prstGeom prst="bentConnector3">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362200" y="2824806"/>
            <a:ext cx="0" cy="2128194"/>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2362200" y="4953000"/>
            <a:ext cx="4876800"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flipV="1">
            <a:off x="7239000" y="3852565"/>
            <a:ext cx="76200" cy="1100435"/>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9" name="Elbow Connector 38"/>
          <p:cNvCxnSpPr/>
          <p:nvPr/>
        </p:nvCxnSpPr>
        <p:spPr>
          <a:xfrm>
            <a:off x="4114800" y="3276600"/>
            <a:ext cx="3162300" cy="228600"/>
          </a:xfrm>
          <a:prstGeom prst="bentConnector3">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3" name="Elbow Connector 42"/>
          <p:cNvCxnSpPr/>
          <p:nvPr/>
        </p:nvCxnSpPr>
        <p:spPr>
          <a:xfrm>
            <a:off x="4419600" y="2493663"/>
            <a:ext cx="1276350" cy="782937"/>
          </a:xfrm>
          <a:prstGeom prst="straightConnector1">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a:off x="5918200" y="4616450"/>
            <a:ext cx="1358900" cy="0"/>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51" name="Elbow Connector 50"/>
          <p:cNvCxnSpPr/>
          <p:nvPr/>
        </p:nvCxnSpPr>
        <p:spPr>
          <a:xfrm rot="10800000" flipV="1">
            <a:off x="3886200" y="3604912"/>
            <a:ext cx="2971805" cy="1652887"/>
          </a:xfrm>
          <a:prstGeom prst="bentConnector3">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24599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5" name="Rectangle 4"/>
          <p:cNvSpPr/>
          <p:nvPr/>
        </p:nvSpPr>
        <p:spPr>
          <a:xfrm>
            <a:off x="0" y="1066800"/>
            <a:ext cx="9144000" cy="59436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2667000" y="195590"/>
            <a:ext cx="3733800" cy="523220"/>
          </a:xfrm>
          <a:prstGeom prst="rect">
            <a:avLst/>
          </a:prstGeom>
          <a:noFill/>
        </p:spPr>
        <p:txBody>
          <a:bodyPr wrap="square" rtlCol="0">
            <a:spAutoFit/>
          </a:bodyPr>
          <a:lstStyle/>
          <a:p>
            <a:pPr algn="ctr"/>
            <a:r>
              <a:rPr lang="en-US" sz="2800" b="1" u="sng" dirty="0" smtClean="0">
                <a:solidFill>
                  <a:schemeClr val="bg1"/>
                </a:solidFill>
                <a:latin typeface="Arial Black" pitchFamily="34" charset="0"/>
              </a:rPr>
              <a:t>Working Principle</a:t>
            </a:r>
          </a:p>
        </p:txBody>
      </p:sp>
      <p:sp>
        <p:nvSpPr>
          <p:cNvPr id="9" name="Oval 8"/>
          <p:cNvSpPr/>
          <p:nvPr/>
        </p:nvSpPr>
        <p:spPr>
          <a:xfrm>
            <a:off x="914400" y="1066800"/>
            <a:ext cx="1143000" cy="1066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smtClean="0">
                <a:solidFill>
                  <a:schemeClr val="tx1"/>
                </a:solidFill>
              </a:rPr>
              <a:t>1</a:t>
            </a:r>
            <a:endParaRPr lang="en-US" sz="4000" b="1" dirty="0">
              <a:solidFill>
                <a:schemeClr val="tx1"/>
              </a:solidFill>
            </a:endParaRPr>
          </a:p>
        </p:txBody>
      </p:sp>
      <p:sp>
        <p:nvSpPr>
          <p:cNvPr id="10" name="Rounded Rectangle 9"/>
          <p:cNvSpPr/>
          <p:nvPr/>
        </p:nvSpPr>
        <p:spPr>
          <a:xfrm>
            <a:off x="2362200" y="1143000"/>
            <a:ext cx="5029200" cy="914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NTC thermistor reduces its resistance as the temperature rises</a:t>
            </a:r>
            <a:r>
              <a:rPr lang="en-US" dirty="0"/>
              <a:t>.</a:t>
            </a:r>
          </a:p>
        </p:txBody>
      </p:sp>
      <p:sp>
        <p:nvSpPr>
          <p:cNvPr id="14" name="Oval 13"/>
          <p:cNvSpPr/>
          <p:nvPr/>
        </p:nvSpPr>
        <p:spPr>
          <a:xfrm>
            <a:off x="927100" y="2438400"/>
            <a:ext cx="1143000" cy="1066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t>2</a:t>
            </a:r>
            <a:endParaRPr lang="en-US" sz="4400" b="1" dirty="0"/>
          </a:p>
        </p:txBody>
      </p:sp>
      <p:sp>
        <p:nvSpPr>
          <p:cNvPr id="15" name="Oval 14"/>
          <p:cNvSpPr/>
          <p:nvPr/>
        </p:nvSpPr>
        <p:spPr>
          <a:xfrm>
            <a:off x="939800" y="3733800"/>
            <a:ext cx="1143000" cy="10668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dirty="0" smtClean="0"/>
              <a:t>3</a:t>
            </a:r>
            <a:endParaRPr lang="en-US" sz="4000" b="1" dirty="0"/>
          </a:p>
        </p:txBody>
      </p:sp>
      <p:sp>
        <p:nvSpPr>
          <p:cNvPr id="17" name="Rounded Rectangle 16"/>
          <p:cNvSpPr/>
          <p:nvPr/>
        </p:nvSpPr>
        <p:spPr>
          <a:xfrm>
            <a:off x="2362200" y="2514600"/>
            <a:ext cx="5029200" cy="914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This change triggers the BC 547 transistor, allowing current to flow.</a:t>
            </a:r>
          </a:p>
        </p:txBody>
      </p:sp>
      <p:sp>
        <p:nvSpPr>
          <p:cNvPr id="18" name="Rounded Rectangle 17"/>
          <p:cNvSpPr/>
          <p:nvPr/>
        </p:nvSpPr>
        <p:spPr>
          <a:xfrm>
            <a:off x="2362200" y="3733800"/>
            <a:ext cx="5029200" cy="9144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The buzzer sounds when the circuit is activated</a:t>
            </a:r>
            <a:r>
              <a:rPr lang="en-US" dirty="0"/>
              <a:t>.</a:t>
            </a:r>
          </a:p>
        </p:txBody>
      </p:sp>
    </p:spTree>
    <p:extLst>
      <p:ext uri="{BB962C8B-B14F-4D97-AF65-F5344CB8AC3E}">
        <p14:creationId xmlns:p14="http://schemas.microsoft.com/office/powerpoint/2010/main" val="23435070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3" name="Rounded Rectangle 2"/>
          <p:cNvSpPr/>
          <p:nvPr/>
        </p:nvSpPr>
        <p:spPr>
          <a:xfrm>
            <a:off x="1295400" y="1968500"/>
            <a:ext cx="1524000" cy="2819400"/>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t>1</a:t>
            </a:r>
            <a:r>
              <a:rPr lang="en-US" dirty="0" smtClean="0"/>
              <a:t>.</a:t>
            </a:r>
          </a:p>
          <a:p>
            <a:pPr algn="ctr"/>
            <a:endParaRPr lang="en-US" dirty="0" smtClean="0"/>
          </a:p>
          <a:p>
            <a:pPr algn="ctr"/>
            <a:r>
              <a:rPr lang="en-US" b="1" i="1" dirty="0" smtClean="0"/>
              <a:t>Connect </a:t>
            </a:r>
            <a:r>
              <a:rPr lang="en-US" b="1" i="1" dirty="0"/>
              <a:t>the components as per the circuit diagram</a:t>
            </a:r>
            <a:r>
              <a:rPr lang="en-US" b="1" i="1" dirty="0" smtClean="0"/>
              <a:t>.</a:t>
            </a:r>
            <a:r>
              <a:rPr lang="en-US" b="1" i="1" dirty="0"/>
              <a:t> </a:t>
            </a:r>
          </a:p>
        </p:txBody>
      </p:sp>
      <p:sp>
        <p:nvSpPr>
          <p:cNvPr id="4" name="Right Arrow 3"/>
          <p:cNvSpPr/>
          <p:nvPr/>
        </p:nvSpPr>
        <p:spPr>
          <a:xfrm>
            <a:off x="3048000" y="3048000"/>
            <a:ext cx="457200" cy="330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ounded Rectangle 4"/>
          <p:cNvSpPr/>
          <p:nvPr/>
        </p:nvSpPr>
        <p:spPr>
          <a:xfrm>
            <a:off x="3733800" y="1968500"/>
            <a:ext cx="1447800" cy="3060700"/>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t>2</a:t>
            </a:r>
            <a:r>
              <a:rPr lang="en-US" dirty="0" smtClean="0"/>
              <a:t>.</a:t>
            </a:r>
          </a:p>
          <a:p>
            <a:pPr algn="ctr"/>
            <a:endParaRPr lang="en-US" dirty="0" smtClean="0"/>
          </a:p>
          <a:p>
            <a:pPr algn="ctr"/>
            <a:r>
              <a:rPr lang="en-US" b="1" i="1" dirty="0" smtClean="0"/>
              <a:t>Ensure </a:t>
            </a:r>
            <a:r>
              <a:rPr lang="en-US" b="1" i="1" dirty="0"/>
              <a:t>the thermistor is positioned where it can sense heat.</a:t>
            </a:r>
          </a:p>
        </p:txBody>
      </p:sp>
      <p:sp>
        <p:nvSpPr>
          <p:cNvPr id="6" name="Right Arrow 5"/>
          <p:cNvSpPr/>
          <p:nvPr/>
        </p:nvSpPr>
        <p:spPr>
          <a:xfrm>
            <a:off x="5562600" y="3048000"/>
            <a:ext cx="533400" cy="3683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6324600" y="1968500"/>
            <a:ext cx="1524000" cy="2819400"/>
          </a:xfrm>
          <a:prstGeom prst="round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b="1" dirty="0" smtClean="0"/>
              <a:t>3</a:t>
            </a:r>
            <a:r>
              <a:rPr lang="en-US" dirty="0" smtClean="0"/>
              <a:t>.</a:t>
            </a:r>
          </a:p>
          <a:p>
            <a:pPr algn="ctr"/>
            <a:endParaRPr lang="en-US" dirty="0" smtClean="0"/>
          </a:p>
          <a:p>
            <a:pPr algn="ctr"/>
            <a:r>
              <a:rPr lang="en-US" b="1" i="1" dirty="0" smtClean="0"/>
              <a:t>Test </a:t>
            </a:r>
            <a:r>
              <a:rPr lang="en-US" b="1" i="1" dirty="0"/>
              <a:t>the circuit for functionality.</a:t>
            </a:r>
          </a:p>
        </p:txBody>
      </p:sp>
      <p:sp>
        <p:nvSpPr>
          <p:cNvPr id="8" name="TextBox 7"/>
          <p:cNvSpPr txBox="1"/>
          <p:nvPr/>
        </p:nvSpPr>
        <p:spPr>
          <a:xfrm>
            <a:off x="2743200" y="647700"/>
            <a:ext cx="4114800" cy="646331"/>
          </a:xfrm>
          <a:prstGeom prst="rect">
            <a:avLst/>
          </a:prstGeom>
          <a:noFill/>
        </p:spPr>
        <p:txBody>
          <a:bodyPr wrap="square" rtlCol="0">
            <a:spAutoFit/>
          </a:bodyPr>
          <a:lstStyle/>
          <a:p>
            <a:pPr algn="ctr"/>
            <a:r>
              <a:rPr lang="en-US" sz="3600" b="1" i="1" u="sng" dirty="0" smtClean="0">
                <a:solidFill>
                  <a:schemeClr val="bg1"/>
                </a:solidFill>
              </a:rPr>
              <a:t>Assembly</a:t>
            </a:r>
            <a:r>
              <a:rPr lang="en-US" sz="3600" b="1" i="1" u="sng" dirty="0" smtClean="0"/>
              <a:t> </a:t>
            </a:r>
            <a:r>
              <a:rPr lang="en-US" sz="3600" b="1" i="1" u="sng" dirty="0" smtClean="0">
                <a:solidFill>
                  <a:schemeClr val="bg1"/>
                </a:solidFill>
              </a:rPr>
              <a:t>Process</a:t>
            </a:r>
            <a:endParaRPr lang="en-US" sz="3600" b="1" i="1" u="sng" dirty="0">
              <a:solidFill>
                <a:schemeClr val="bg1"/>
              </a:solidFill>
            </a:endParaRPr>
          </a:p>
        </p:txBody>
      </p:sp>
    </p:spTree>
    <p:extLst>
      <p:ext uri="{BB962C8B-B14F-4D97-AF65-F5344CB8AC3E}">
        <p14:creationId xmlns:p14="http://schemas.microsoft.com/office/powerpoint/2010/main" val="42250172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TextBox 1"/>
          <p:cNvSpPr txBox="1"/>
          <p:nvPr/>
        </p:nvSpPr>
        <p:spPr>
          <a:xfrm>
            <a:off x="2730500" y="457200"/>
            <a:ext cx="3276600" cy="646331"/>
          </a:xfrm>
          <a:prstGeom prst="rect">
            <a:avLst/>
          </a:prstGeom>
          <a:noFill/>
        </p:spPr>
        <p:txBody>
          <a:bodyPr wrap="square" rtlCol="0">
            <a:spAutoFit/>
          </a:bodyPr>
          <a:lstStyle/>
          <a:p>
            <a:pPr algn="ctr"/>
            <a:r>
              <a:rPr lang="en-US" sz="3600" b="1" i="1" u="sng" dirty="0" smtClean="0">
                <a:solidFill>
                  <a:schemeClr val="bg1"/>
                </a:solidFill>
              </a:rPr>
              <a:t>Applications</a:t>
            </a:r>
            <a:endParaRPr lang="en-US" sz="3600" b="1" i="1" u="sng" dirty="0">
              <a:solidFill>
                <a:schemeClr val="bg1"/>
              </a:solidFill>
            </a:endParaRPr>
          </a:p>
        </p:txBody>
      </p:sp>
      <p:sp>
        <p:nvSpPr>
          <p:cNvPr id="3" name="Oval 2"/>
          <p:cNvSpPr/>
          <p:nvPr/>
        </p:nvSpPr>
        <p:spPr>
          <a:xfrm>
            <a:off x="1079498" y="3124200"/>
            <a:ext cx="1981200" cy="1752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Potential Uses</a:t>
            </a:r>
            <a:endParaRPr lang="en-US" sz="2400" b="1" dirty="0"/>
          </a:p>
        </p:txBody>
      </p:sp>
      <p:sp>
        <p:nvSpPr>
          <p:cNvPr id="4" name="Right Arrow 3"/>
          <p:cNvSpPr/>
          <p:nvPr/>
        </p:nvSpPr>
        <p:spPr>
          <a:xfrm rot="5400000">
            <a:off x="1828796" y="5143500"/>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p:cNvSpPr/>
          <p:nvPr/>
        </p:nvSpPr>
        <p:spPr>
          <a:xfrm rot="16200000">
            <a:off x="1803398" y="2540000"/>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a:off x="3276600" y="3810000"/>
            <a:ext cx="533400"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1168398" y="5638800"/>
            <a:ext cx="17526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smtClean="0"/>
              <a:t>Small-scale industries</a:t>
            </a:r>
            <a:endParaRPr lang="en-US" b="1" i="1" dirty="0"/>
          </a:p>
        </p:txBody>
      </p:sp>
      <p:sp>
        <p:nvSpPr>
          <p:cNvPr id="8" name="Rounded Rectangle 7"/>
          <p:cNvSpPr/>
          <p:nvPr/>
        </p:nvSpPr>
        <p:spPr>
          <a:xfrm>
            <a:off x="1168398" y="1524000"/>
            <a:ext cx="1752600"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smtClean="0"/>
              <a:t>Homes and offices</a:t>
            </a:r>
            <a:endParaRPr lang="en-US" b="1" i="1" dirty="0"/>
          </a:p>
        </p:txBody>
      </p:sp>
      <p:sp>
        <p:nvSpPr>
          <p:cNvPr id="9" name="Rounded Rectangle 8"/>
          <p:cNvSpPr/>
          <p:nvPr/>
        </p:nvSpPr>
        <p:spPr>
          <a:xfrm>
            <a:off x="3810000" y="3429000"/>
            <a:ext cx="1752600" cy="1143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i="1" dirty="0" smtClean="0"/>
              <a:t>Low-cost fire detection systems in rural areas</a:t>
            </a:r>
            <a:endParaRPr lang="en-US" b="1" i="1" dirty="0"/>
          </a:p>
        </p:txBody>
      </p:sp>
    </p:spTree>
    <p:extLst>
      <p:ext uri="{BB962C8B-B14F-4D97-AF65-F5344CB8AC3E}">
        <p14:creationId xmlns:p14="http://schemas.microsoft.com/office/powerpoint/2010/main" val="27348315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r="-17000"/>
          </a:stretch>
        </a:blipFill>
        <a:effectLst/>
      </p:bgPr>
    </p:bg>
    <p:spTree>
      <p:nvGrpSpPr>
        <p:cNvPr id="1" name=""/>
        <p:cNvGrpSpPr/>
        <p:nvPr/>
      </p:nvGrpSpPr>
      <p:grpSpPr>
        <a:xfrm>
          <a:off x="0" y="0"/>
          <a:ext cx="0" cy="0"/>
          <a:chOff x="0" y="0"/>
          <a:chExt cx="0" cy="0"/>
        </a:xfrm>
      </p:grpSpPr>
      <p:sp>
        <p:nvSpPr>
          <p:cNvPr id="2" name="TextBox 1"/>
          <p:cNvSpPr txBox="1"/>
          <p:nvPr/>
        </p:nvSpPr>
        <p:spPr>
          <a:xfrm>
            <a:off x="3352800" y="438834"/>
            <a:ext cx="2514600" cy="646331"/>
          </a:xfrm>
          <a:prstGeom prst="rect">
            <a:avLst/>
          </a:prstGeom>
          <a:noFill/>
        </p:spPr>
        <p:txBody>
          <a:bodyPr wrap="square" rtlCol="0">
            <a:spAutoFit/>
          </a:bodyPr>
          <a:lstStyle/>
          <a:p>
            <a:pPr algn="ctr"/>
            <a:r>
              <a:rPr lang="en-US" sz="3600" b="1" i="1" u="sng" dirty="0" smtClean="0">
                <a:solidFill>
                  <a:schemeClr val="bg1"/>
                </a:solidFill>
              </a:rPr>
              <a:t>Advantages</a:t>
            </a:r>
            <a:endParaRPr lang="en-US" sz="3600" b="1" i="1" u="sng" dirty="0">
              <a:solidFill>
                <a:schemeClr val="bg1"/>
              </a:solidFill>
            </a:endParaRPr>
          </a:p>
        </p:txBody>
      </p:sp>
      <p:sp>
        <p:nvSpPr>
          <p:cNvPr id="4" name="Rounded Rectangle 3"/>
          <p:cNvSpPr/>
          <p:nvPr/>
        </p:nvSpPr>
        <p:spPr>
          <a:xfrm>
            <a:off x="1371600" y="1828800"/>
            <a:ext cx="1828800" cy="6096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Low Cost</a:t>
            </a:r>
            <a:endParaRPr lang="en-US" sz="2400" b="1" dirty="0"/>
          </a:p>
        </p:txBody>
      </p:sp>
      <p:cxnSp>
        <p:nvCxnSpPr>
          <p:cNvPr id="6" name="Straight Arrow Connector 5"/>
          <p:cNvCxnSpPr/>
          <p:nvPr/>
        </p:nvCxnSpPr>
        <p:spPr>
          <a:xfrm>
            <a:off x="3352800" y="2133600"/>
            <a:ext cx="17526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Rounded Rectangle 6"/>
          <p:cNvSpPr/>
          <p:nvPr/>
        </p:nvSpPr>
        <p:spPr>
          <a:xfrm>
            <a:off x="5334000" y="1828800"/>
            <a:ext cx="2590800" cy="609600"/>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Affordable components</a:t>
            </a:r>
            <a:r>
              <a:rPr lang="en-US" dirty="0" smtClean="0"/>
              <a:t>.</a:t>
            </a:r>
            <a:endParaRPr lang="en-US" dirty="0"/>
          </a:p>
        </p:txBody>
      </p:sp>
      <p:sp>
        <p:nvSpPr>
          <p:cNvPr id="8" name="Rounded Rectangle 7"/>
          <p:cNvSpPr/>
          <p:nvPr/>
        </p:nvSpPr>
        <p:spPr>
          <a:xfrm>
            <a:off x="1371600" y="2819400"/>
            <a:ext cx="1828800" cy="12192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Compact and Portable</a:t>
            </a:r>
            <a:endParaRPr lang="en-US" sz="2400" b="1" dirty="0"/>
          </a:p>
        </p:txBody>
      </p:sp>
      <p:cxnSp>
        <p:nvCxnSpPr>
          <p:cNvPr id="10" name="Straight Arrow Connector 9"/>
          <p:cNvCxnSpPr/>
          <p:nvPr/>
        </p:nvCxnSpPr>
        <p:spPr>
          <a:xfrm>
            <a:off x="3352800" y="3429000"/>
            <a:ext cx="19812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5499100" y="3124200"/>
            <a:ext cx="2590800" cy="609600"/>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Easy to transport and install</a:t>
            </a:r>
            <a:r>
              <a:rPr lang="en-US" dirty="0" smtClean="0"/>
              <a:t>.</a:t>
            </a:r>
            <a:endParaRPr lang="en-US" dirty="0"/>
          </a:p>
        </p:txBody>
      </p:sp>
      <p:sp>
        <p:nvSpPr>
          <p:cNvPr id="12" name="Rounded Rectangle 11"/>
          <p:cNvSpPr/>
          <p:nvPr/>
        </p:nvSpPr>
        <p:spPr>
          <a:xfrm>
            <a:off x="1371600" y="4419600"/>
            <a:ext cx="1752600" cy="838200"/>
          </a:xfrm>
          <a:prstGeom prst="round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Reliable</a:t>
            </a:r>
            <a:endParaRPr lang="en-US" sz="2400" b="1" dirty="0"/>
          </a:p>
        </p:txBody>
      </p:sp>
      <p:cxnSp>
        <p:nvCxnSpPr>
          <p:cNvPr id="14" name="Straight Arrow Connector 13"/>
          <p:cNvCxnSpPr/>
          <p:nvPr/>
        </p:nvCxnSpPr>
        <p:spPr>
          <a:xfrm>
            <a:off x="3352800" y="4953000"/>
            <a:ext cx="21463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Rounded Rectangle 14"/>
          <p:cNvSpPr/>
          <p:nvPr/>
        </p:nvSpPr>
        <p:spPr>
          <a:xfrm>
            <a:off x="5638800" y="4572000"/>
            <a:ext cx="2667000" cy="685800"/>
          </a:xfrm>
          <a:prstGeom prst="roundRect">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smtClean="0"/>
              <a:t>Effectively detects temperature changes.</a:t>
            </a:r>
            <a:endParaRPr lang="en-US" b="1" dirty="0"/>
          </a:p>
        </p:txBody>
      </p:sp>
    </p:spTree>
    <p:extLst>
      <p:ext uri="{BB962C8B-B14F-4D97-AF65-F5344CB8AC3E}">
        <p14:creationId xmlns:p14="http://schemas.microsoft.com/office/powerpoint/2010/main" val="282151762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p:cNvSpPr txBox="1"/>
          <p:nvPr/>
        </p:nvSpPr>
        <p:spPr>
          <a:xfrm>
            <a:off x="3086100" y="560457"/>
            <a:ext cx="3886200" cy="707886"/>
          </a:xfrm>
          <a:prstGeom prst="rect">
            <a:avLst/>
          </a:prstGeom>
          <a:noFill/>
        </p:spPr>
        <p:txBody>
          <a:bodyPr wrap="square" rtlCol="0">
            <a:spAutoFit/>
          </a:bodyPr>
          <a:lstStyle/>
          <a:p>
            <a:pPr algn="ctr"/>
            <a:r>
              <a:rPr lang="en-US" sz="4000" b="1" i="1" u="sng" dirty="0" smtClean="0">
                <a:solidFill>
                  <a:schemeClr val="bg1"/>
                </a:solidFill>
              </a:rPr>
              <a:t>Limitations</a:t>
            </a:r>
            <a:endParaRPr lang="en-US" sz="4000" b="1" i="1" u="sng" dirty="0">
              <a:solidFill>
                <a:schemeClr val="bg1"/>
              </a:solidFill>
            </a:endParaRPr>
          </a:p>
        </p:txBody>
      </p:sp>
      <p:sp>
        <p:nvSpPr>
          <p:cNvPr id="3" name="Oval 2"/>
          <p:cNvSpPr/>
          <p:nvPr/>
        </p:nvSpPr>
        <p:spPr>
          <a:xfrm>
            <a:off x="2133600" y="1828800"/>
            <a:ext cx="5943600" cy="1219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1</a:t>
            </a:r>
            <a:r>
              <a:rPr lang="en-US" dirty="0" smtClean="0"/>
              <a:t>. Limited sensitivity based on the NTC thermistor's range.</a:t>
            </a:r>
            <a:endParaRPr lang="en-US" dirty="0"/>
          </a:p>
        </p:txBody>
      </p:sp>
      <p:sp>
        <p:nvSpPr>
          <p:cNvPr id="4" name="Oval 3"/>
          <p:cNvSpPr/>
          <p:nvPr/>
        </p:nvSpPr>
        <p:spPr>
          <a:xfrm>
            <a:off x="2273300" y="3352800"/>
            <a:ext cx="5943600" cy="1219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2</a:t>
            </a:r>
            <a:r>
              <a:rPr lang="en-US" dirty="0" smtClean="0"/>
              <a:t>. Cannot differentiate between harmless heat sources and actual fires.</a:t>
            </a:r>
            <a:endParaRPr lang="en-US" dirty="0"/>
          </a:p>
        </p:txBody>
      </p:sp>
      <p:sp>
        <p:nvSpPr>
          <p:cNvPr id="5" name="Oval 4"/>
          <p:cNvSpPr/>
          <p:nvPr/>
        </p:nvSpPr>
        <p:spPr>
          <a:xfrm>
            <a:off x="2819400" y="4953000"/>
            <a:ext cx="5943600" cy="1219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a:p>
            <a:pPr algn="ctr"/>
            <a:r>
              <a:rPr lang="en-US" sz="2000" b="1" dirty="0" smtClean="0"/>
              <a:t>3</a:t>
            </a:r>
            <a:r>
              <a:rPr lang="en-US" dirty="0" smtClean="0"/>
              <a:t>. Requires manual reset after activation.</a:t>
            </a:r>
          </a:p>
          <a:p>
            <a:pPr algn="ctr"/>
            <a:endParaRPr lang="en-US" dirty="0"/>
          </a:p>
        </p:txBody>
      </p:sp>
    </p:spTree>
    <p:extLst>
      <p:ext uri="{BB962C8B-B14F-4D97-AF65-F5344CB8AC3E}">
        <p14:creationId xmlns:p14="http://schemas.microsoft.com/office/powerpoint/2010/main" val="33914307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7000"/>
          </a:stretch>
        </a:blipFill>
        <a:effectLst/>
      </p:bgPr>
    </p:bg>
    <p:spTree>
      <p:nvGrpSpPr>
        <p:cNvPr id="1" name=""/>
        <p:cNvGrpSpPr/>
        <p:nvPr/>
      </p:nvGrpSpPr>
      <p:grpSpPr>
        <a:xfrm>
          <a:off x="0" y="0"/>
          <a:ext cx="0" cy="0"/>
          <a:chOff x="0" y="0"/>
          <a:chExt cx="0" cy="0"/>
        </a:xfrm>
      </p:grpSpPr>
      <p:sp>
        <p:nvSpPr>
          <p:cNvPr id="2" name="TextBox 1"/>
          <p:cNvSpPr txBox="1"/>
          <p:nvPr/>
        </p:nvSpPr>
        <p:spPr>
          <a:xfrm>
            <a:off x="2667000" y="812800"/>
            <a:ext cx="3733800" cy="646331"/>
          </a:xfrm>
          <a:prstGeom prst="rect">
            <a:avLst/>
          </a:prstGeom>
          <a:noFill/>
        </p:spPr>
        <p:txBody>
          <a:bodyPr wrap="square" rtlCol="0">
            <a:spAutoFit/>
          </a:bodyPr>
          <a:lstStyle/>
          <a:p>
            <a:pPr algn="ctr"/>
            <a:r>
              <a:rPr lang="en-US" sz="3600" b="1" i="1" u="sng" dirty="0" smtClean="0">
                <a:solidFill>
                  <a:schemeClr val="bg1"/>
                </a:solidFill>
              </a:rPr>
              <a:t>Conclusion</a:t>
            </a:r>
            <a:endParaRPr lang="en-US" sz="3600" b="1" i="1" u="sng" dirty="0">
              <a:solidFill>
                <a:schemeClr val="bg1"/>
              </a:solidFill>
            </a:endParaRPr>
          </a:p>
        </p:txBody>
      </p:sp>
      <p:sp>
        <p:nvSpPr>
          <p:cNvPr id="3" name="TextBox 2"/>
          <p:cNvSpPr txBox="1"/>
          <p:nvPr/>
        </p:nvSpPr>
        <p:spPr>
          <a:xfrm>
            <a:off x="762000" y="1752600"/>
            <a:ext cx="7848600" cy="1477328"/>
          </a:xfrm>
          <a:prstGeom prst="rect">
            <a:avLst/>
          </a:prstGeom>
          <a:noFill/>
        </p:spPr>
        <p:txBody>
          <a:bodyPr wrap="square" rtlCol="0">
            <a:spAutoFit/>
          </a:bodyPr>
          <a:lstStyle/>
          <a:p>
            <a:r>
              <a:rPr lang="en-US" b="1" i="1" dirty="0" smtClean="0">
                <a:solidFill>
                  <a:schemeClr val="bg1"/>
                </a:solidFill>
                <a:latin typeface="Bahnschrift SemiBold" pitchFamily="34" charset="0"/>
              </a:rPr>
              <a:t>This project serves as a proof-of-concept for a simple fire alarm system that is both affordable and effective for basic fire detection. It highlights the potential to create life-saving systems using minimal resources, making it an excellent starting point for further innovation and development in fire safety technology.</a:t>
            </a:r>
            <a:endParaRPr lang="en-US" b="1" i="1" dirty="0">
              <a:solidFill>
                <a:schemeClr val="bg1"/>
              </a:solidFill>
              <a:latin typeface="Bahnschrift SemiBold" pitchFamily="34" charset="0"/>
            </a:endParaRPr>
          </a:p>
        </p:txBody>
      </p:sp>
    </p:spTree>
    <p:extLst>
      <p:ext uri="{BB962C8B-B14F-4D97-AF65-F5344CB8AC3E}">
        <p14:creationId xmlns:p14="http://schemas.microsoft.com/office/powerpoint/2010/main" val="25452734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2" name="TextBox 1"/>
          <p:cNvSpPr txBox="1"/>
          <p:nvPr/>
        </p:nvSpPr>
        <p:spPr>
          <a:xfrm>
            <a:off x="2362200" y="2286000"/>
            <a:ext cx="6096000" cy="3046988"/>
          </a:xfrm>
          <a:prstGeom prst="rect">
            <a:avLst/>
          </a:prstGeom>
          <a:noFill/>
        </p:spPr>
        <p:txBody>
          <a:bodyPr wrap="square" rtlCol="0">
            <a:spAutoFit/>
          </a:bodyPr>
          <a:lstStyle/>
          <a:p>
            <a:pPr algn="ctr"/>
            <a:r>
              <a:rPr lang="en-US" sz="9600" b="1" i="1" dirty="0" smtClean="0">
                <a:solidFill>
                  <a:schemeClr val="bg1"/>
                </a:solidFill>
                <a:latin typeface="Baskerville Old Face" pitchFamily="18" charset="0"/>
              </a:rPr>
              <a:t>Thank You </a:t>
            </a:r>
          </a:p>
          <a:p>
            <a:pPr algn="ctr"/>
            <a:r>
              <a:rPr lang="en-US" sz="9600" b="1" i="1" dirty="0" smtClean="0">
                <a:solidFill>
                  <a:schemeClr val="bg1"/>
                </a:solidFill>
                <a:latin typeface="Baskerville Old Face" pitchFamily="18" charset="0"/>
              </a:rPr>
              <a:t>Everyone</a:t>
            </a:r>
            <a:endParaRPr lang="en-US" sz="9600" b="1" i="1" dirty="0">
              <a:solidFill>
                <a:schemeClr val="bg1"/>
              </a:solidFill>
              <a:latin typeface="Baskerville Old Face" pitchFamily="18" charset="0"/>
            </a:endParaRPr>
          </a:p>
        </p:txBody>
      </p:sp>
    </p:spTree>
    <p:extLst>
      <p:ext uri="{BB962C8B-B14F-4D97-AF65-F5344CB8AC3E}">
        <p14:creationId xmlns:p14="http://schemas.microsoft.com/office/powerpoint/2010/main" val="95313339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455</TotalTime>
  <Words>348</Words>
  <Application>Microsoft Office PowerPoint</Application>
  <PresentationFormat>On-screen Show (4:3)</PresentationFormat>
  <Paragraphs>71</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8801701790022</dc:creator>
  <cp:lastModifiedBy>8801701790022</cp:lastModifiedBy>
  <cp:revision>36</cp:revision>
  <dcterms:created xsi:type="dcterms:W3CDTF">2024-12-05T13:14:43Z</dcterms:created>
  <dcterms:modified xsi:type="dcterms:W3CDTF">2024-12-07T16:23:00Z</dcterms:modified>
</cp:coreProperties>
</file>